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AC5565E8-1675-4FB1-A1E4-9D27039263FB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4C2F8F6F-87E4-4E1F-BBF6-4433AAC295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3177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565E8-1675-4FB1-A1E4-9D27039263FB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F8F6F-87E4-4E1F-BBF6-4433AAC295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2361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565E8-1675-4FB1-A1E4-9D27039263FB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F8F6F-87E4-4E1F-BBF6-4433AAC295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66638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565E8-1675-4FB1-A1E4-9D27039263FB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F8F6F-87E4-4E1F-BBF6-4433AAC295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16103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565E8-1675-4FB1-A1E4-9D27039263FB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F8F6F-87E4-4E1F-BBF6-4433AAC295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7078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565E8-1675-4FB1-A1E4-9D27039263FB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F8F6F-87E4-4E1F-BBF6-4433AAC295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93764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565E8-1675-4FB1-A1E4-9D27039263FB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F8F6F-87E4-4E1F-BBF6-4433AAC295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66472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565E8-1675-4FB1-A1E4-9D27039263FB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F8F6F-87E4-4E1F-BBF6-4433AAC295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57070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565E8-1675-4FB1-A1E4-9D27039263FB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F8F6F-87E4-4E1F-BBF6-4433AAC295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8647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565E8-1675-4FB1-A1E4-9D27039263FB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F8F6F-87E4-4E1F-BBF6-4433AAC295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60619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565E8-1675-4FB1-A1E4-9D27039263FB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F8F6F-87E4-4E1F-BBF6-4433AAC295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33258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565E8-1675-4FB1-A1E4-9D27039263FB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F8F6F-87E4-4E1F-BBF6-4433AAC295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86272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565E8-1675-4FB1-A1E4-9D27039263FB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F8F6F-87E4-4E1F-BBF6-4433AAC295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66921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565E8-1675-4FB1-A1E4-9D27039263FB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F8F6F-87E4-4E1F-BBF6-4433AAC295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37714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565E8-1675-4FB1-A1E4-9D27039263FB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F8F6F-87E4-4E1F-BBF6-4433AAC295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22080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565E8-1675-4FB1-A1E4-9D27039263FB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F8F6F-87E4-4E1F-BBF6-4433AAC29572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03171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565E8-1675-4FB1-A1E4-9D27039263FB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F8F6F-87E4-4E1F-BBF6-4433AAC295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58111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AC5565E8-1675-4FB1-A1E4-9D27039263FB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C2F8F6F-87E4-4E1F-BBF6-4433AAC295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744779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  <p:sldLayoutId id="2147483694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00B1A-B6EA-1A53-648C-EB5D2AF4D52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en-IN" dirty="0"/>
              <a:t>Key healthcare service areas &amp; their purpose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778F60-0C73-90B3-6522-4AC927E05CC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pPr algn="l"/>
            <a:r>
              <a:rPr lang="en-IN" sz="2000" dirty="0"/>
              <a:t>Understanding what healthcare services exist and why they exist</a:t>
            </a:r>
          </a:p>
          <a:p>
            <a:pPr algn="l"/>
            <a:endParaRPr lang="en-IN" sz="2000" dirty="0"/>
          </a:p>
          <a:p>
            <a:pPr algn="l"/>
            <a:r>
              <a:rPr lang="en-IN" sz="2000" dirty="0"/>
              <a:t>POD 4</a:t>
            </a:r>
          </a:p>
        </p:txBody>
      </p:sp>
    </p:spTree>
    <p:extLst>
      <p:ext uri="{BB962C8B-B14F-4D97-AF65-F5344CB8AC3E}">
        <p14:creationId xmlns:p14="http://schemas.microsoft.com/office/powerpoint/2010/main" val="35887760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76C76-3D46-5073-D5A9-A00E7EA6B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Pharmacy &amp; medication services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3CEC85-2E6E-9073-9345-FBD3C9A84E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Dispensing Medications</a:t>
            </a:r>
          </a:p>
          <a:p>
            <a:r>
              <a:rPr lang="en-IN" sz="2400" dirty="0"/>
              <a:t>Ensuring Safe and correct drug usage</a:t>
            </a:r>
          </a:p>
          <a:p>
            <a:r>
              <a:rPr lang="en-IN" sz="2400" dirty="0"/>
              <a:t>Patient education and counselling</a:t>
            </a:r>
          </a:p>
          <a:p>
            <a:r>
              <a:rPr lang="en-IN" sz="2400" dirty="0"/>
              <a:t>Medication management and monitoring</a:t>
            </a:r>
          </a:p>
        </p:txBody>
      </p:sp>
    </p:spTree>
    <p:extLst>
      <p:ext uri="{BB962C8B-B14F-4D97-AF65-F5344CB8AC3E}">
        <p14:creationId xmlns:p14="http://schemas.microsoft.com/office/powerpoint/2010/main" val="18961507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6B90A-4106-6261-308B-B8523F805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Care Coordination concepts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CD8C63-A53A-2B10-08FA-9B2066FBAC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Organizing and managing patient care</a:t>
            </a:r>
          </a:p>
          <a:p>
            <a:r>
              <a:rPr lang="en-IN" sz="2400" dirty="0"/>
              <a:t>Communication between multiple healthcare providers </a:t>
            </a:r>
          </a:p>
          <a:p>
            <a:r>
              <a:rPr lang="en-IN" sz="2400" dirty="0"/>
              <a:t>Ensures continuity of care</a:t>
            </a:r>
          </a:p>
          <a:p>
            <a:r>
              <a:rPr lang="en-IN" sz="2400" dirty="0"/>
              <a:t>Improves treatment efficiency</a:t>
            </a:r>
          </a:p>
          <a:p>
            <a:pPr marL="0" indent="0"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4788826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103CC-1341-B789-F205-86589655F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Behavioral</a:t>
            </a:r>
            <a:r>
              <a:rPr lang="en-IN" dirty="0"/>
              <a:t> &amp; Wellness support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0CB092-E5D9-77A2-D5FB-987DE437F1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Mental heath services </a:t>
            </a:r>
          </a:p>
          <a:p>
            <a:r>
              <a:rPr lang="en-IN" sz="2400" dirty="0"/>
              <a:t>Stress and emotional support</a:t>
            </a:r>
          </a:p>
          <a:p>
            <a:r>
              <a:rPr lang="en-IN" sz="2400" dirty="0"/>
              <a:t>Lifestyle improvement programs </a:t>
            </a:r>
          </a:p>
          <a:p>
            <a:r>
              <a:rPr lang="en-IN" sz="2400" dirty="0"/>
              <a:t>Promotes overall well-being </a:t>
            </a:r>
          </a:p>
        </p:txBody>
      </p:sp>
    </p:spTree>
    <p:extLst>
      <p:ext uri="{BB962C8B-B14F-4D97-AF65-F5344CB8AC3E}">
        <p14:creationId xmlns:p14="http://schemas.microsoft.com/office/powerpoint/2010/main" val="35335081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B7646-6B15-76FD-5D2A-D8CCC9059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Post-acute &amp; recovery care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517A15-C365-A9F4-F95C-16FFDE24D9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Rehabilitation services (physiotherapy)</a:t>
            </a:r>
          </a:p>
          <a:p>
            <a:r>
              <a:rPr lang="en-IN" sz="2400" dirty="0"/>
              <a:t>Home healthcare support</a:t>
            </a:r>
          </a:p>
          <a:p>
            <a:r>
              <a:rPr lang="en-IN" sz="2400" dirty="0"/>
              <a:t>Long-term care facilities</a:t>
            </a:r>
          </a:p>
          <a:p>
            <a:r>
              <a:rPr lang="en-IN" sz="2400" dirty="0"/>
              <a:t>Helps recovery after illness or surgery</a:t>
            </a:r>
          </a:p>
        </p:txBody>
      </p:sp>
    </p:spTree>
    <p:extLst>
      <p:ext uri="{BB962C8B-B14F-4D97-AF65-F5344CB8AC3E}">
        <p14:creationId xmlns:p14="http://schemas.microsoft.com/office/powerpoint/2010/main" val="29354277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75030-797F-1A98-F834-29663B85C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Preventive &amp; Primary care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BE02C4-78E3-CBF8-BEB4-6FF271B3CE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First point of contact </a:t>
            </a:r>
          </a:p>
          <a:p>
            <a:r>
              <a:rPr lang="en-IN" sz="2400" dirty="0"/>
              <a:t>Regular health checkups</a:t>
            </a:r>
          </a:p>
          <a:p>
            <a:r>
              <a:rPr lang="en-IN" sz="2400" dirty="0"/>
              <a:t>Early disease detection</a:t>
            </a:r>
          </a:p>
          <a:p>
            <a:r>
              <a:rPr lang="en-IN" sz="2400" dirty="0"/>
              <a:t>Vaccinations and screenings </a:t>
            </a:r>
          </a:p>
        </p:txBody>
      </p:sp>
    </p:spTree>
    <p:extLst>
      <p:ext uri="{BB962C8B-B14F-4D97-AF65-F5344CB8AC3E}">
        <p14:creationId xmlns:p14="http://schemas.microsoft.com/office/powerpoint/2010/main" val="7437249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A3D54-5FF9-FF34-400D-162CB07B8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Healthcare ecosystem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8CF094-BA8F-2BC6-512D-31B3F9C01A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All services are interconnected</a:t>
            </a:r>
          </a:p>
          <a:p>
            <a:r>
              <a:rPr lang="en-IN" sz="2400" dirty="0"/>
              <a:t>Collaboration improves efficiency</a:t>
            </a:r>
          </a:p>
          <a:p>
            <a:r>
              <a:rPr lang="en-IN" sz="2400" dirty="0"/>
              <a:t>Seamless patient journey</a:t>
            </a:r>
          </a:p>
          <a:p>
            <a:r>
              <a:rPr lang="en-IN" sz="2400" dirty="0"/>
              <a:t>Better health outcomes</a:t>
            </a:r>
          </a:p>
        </p:txBody>
      </p:sp>
    </p:spTree>
    <p:extLst>
      <p:ext uri="{BB962C8B-B14F-4D97-AF65-F5344CB8AC3E}">
        <p14:creationId xmlns:p14="http://schemas.microsoft.com/office/powerpoint/2010/main" val="14809434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A3D62-2A56-44B9-0E91-12944BB05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this domain knowledge matter?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B25661-B5CF-1017-E9AB-56CF2B09BB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Helps understand the healthcare system clearly</a:t>
            </a:r>
          </a:p>
          <a:p>
            <a:r>
              <a:rPr lang="en-IN" sz="2400" dirty="0"/>
              <a:t>Enables better collaboration across roles</a:t>
            </a:r>
          </a:p>
          <a:p>
            <a:r>
              <a:rPr lang="en-IN" sz="2400" dirty="0"/>
              <a:t>Improves decision-making</a:t>
            </a:r>
          </a:p>
          <a:p>
            <a:r>
              <a:rPr lang="en-IN" sz="2400" dirty="0"/>
              <a:t>Enhances quality of patient care</a:t>
            </a:r>
          </a:p>
        </p:txBody>
      </p:sp>
    </p:spTree>
    <p:extLst>
      <p:ext uri="{BB962C8B-B14F-4D97-AF65-F5344CB8AC3E}">
        <p14:creationId xmlns:p14="http://schemas.microsoft.com/office/powerpoint/2010/main" val="27207882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6808601-0BFD-B761-F833-0F12DACFC44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sz="6600" dirty="0"/>
              <a:t>THANK YOU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A8A65E9E-CA8D-267B-42F9-CA8B851241E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634789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0</TotalTime>
  <Words>155</Words>
  <Application>Microsoft Office PowerPoint</Application>
  <PresentationFormat>Widescreen</PresentationFormat>
  <Paragraphs>40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Celestial</vt:lpstr>
      <vt:lpstr>Key healthcare service areas &amp; their purpose</vt:lpstr>
      <vt:lpstr>Pharmacy &amp; medication services</vt:lpstr>
      <vt:lpstr>Care Coordination concepts</vt:lpstr>
      <vt:lpstr>Behavioral &amp; Wellness support</vt:lpstr>
      <vt:lpstr>Post-acute &amp; recovery care</vt:lpstr>
      <vt:lpstr>Preventive &amp; Primary care</vt:lpstr>
      <vt:lpstr>Healthcare ecosystem </vt:lpstr>
      <vt:lpstr>Why this domain knowledge matter?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Vishal Unni(UST,IN)</dc:creator>
  <cp:lastModifiedBy>Vishal Unni(UST,IN)</cp:lastModifiedBy>
  <cp:revision>1</cp:revision>
  <dcterms:created xsi:type="dcterms:W3CDTF">2026-05-08T05:27:13Z</dcterms:created>
  <dcterms:modified xsi:type="dcterms:W3CDTF">2026-05-08T05:55:57Z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5ffddfa-74ad-4c1f-9757-a38a11902f1c_Enabled">
    <vt:lpwstr>true</vt:lpwstr>
  </property>
  <property fmtid="{D5CDD505-2E9C-101B-9397-08002B2CF9AE}" pid="3" name="MSIP_Label_15ffddfa-74ad-4c1f-9757-a38a11902f1c_SetDate">
    <vt:lpwstr>2026-05-08T05:55:57Z</vt:lpwstr>
  </property>
  <property fmtid="{D5CDD505-2E9C-101B-9397-08002B2CF9AE}" pid="4" name="MSIP_Label_15ffddfa-74ad-4c1f-9757-a38a11902f1c_Method">
    <vt:lpwstr>Standard</vt:lpwstr>
  </property>
  <property fmtid="{D5CDD505-2E9C-101B-9397-08002B2CF9AE}" pid="5" name="MSIP_Label_15ffddfa-74ad-4c1f-9757-a38a11902f1c_Name">
    <vt:lpwstr>UST Internal</vt:lpwstr>
  </property>
  <property fmtid="{D5CDD505-2E9C-101B-9397-08002B2CF9AE}" pid="6" name="MSIP_Label_15ffddfa-74ad-4c1f-9757-a38a11902f1c_SiteId">
    <vt:lpwstr>a4431f4b-c207-4733-9530-34c08a9b2b8d</vt:lpwstr>
  </property>
  <property fmtid="{D5CDD505-2E9C-101B-9397-08002B2CF9AE}" pid="7" name="MSIP_Label_15ffddfa-74ad-4c1f-9757-a38a11902f1c_ActionId">
    <vt:lpwstr>d89ec86f-a07e-4465-ab13-08d5a3c8f299</vt:lpwstr>
  </property>
  <property fmtid="{D5CDD505-2E9C-101B-9397-08002B2CF9AE}" pid="8" name="MSIP_Label_15ffddfa-74ad-4c1f-9757-a38a11902f1c_ContentBits">
    <vt:lpwstr>0</vt:lpwstr>
  </property>
  <property fmtid="{D5CDD505-2E9C-101B-9397-08002B2CF9AE}" pid="9" name="MSIP_Label_15ffddfa-74ad-4c1f-9757-a38a11902f1c_Tag">
    <vt:lpwstr>10, 3, 0, 1</vt:lpwstr>
  </property>
</Properties>
</file>